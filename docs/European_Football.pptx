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3" r:id="rId3"/>
    <p:sldId id="284" r:id="rId4"/>
    <p:sldId id="281" r:id="rId5"/>
    <p:sldId id="282" r:id="rId6"/>
    <p:sldId id="285" r:id="rId7"/>
    <p:sldId id="295" r:id="rId8"/>
    <p:sldId id="296" r:id="rId9"/>
    <p:sldId id="294" r:id="rId10"/>
    <p:sldId id="270" r:id="rId11"/>
    <p:sldId id="286" r:id="rId12"/>
    <p:sldId id="287" r:id="rId13"/>
    <p:sldId id="288" r:id="rId14"/>
    <p:sldId id="289" r:id="rId15"/>
    <p:sldId id="275" r:id="rId16"/>
    <p:sldId id="290" r:id="rId17"/>
    <p:sldId id="291" r:id="rId18"/>
    <p:sldId id="292" r:id="rId19"/>
    <p:sldId id="293" r:id="rId20"/>
    <p:sldId id="28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239344-5D9A-8FF5-AF83-B1E89D045615}" v="20" dt="2026-06-21T23:52:36.662"/>
    <p1510:client id="{72AFFCE4-669F-4A50-73E7-E1B9CF35F0C6}" v="1049" dt="2026-06-21T23:45:07.082"/>
    <p1510:client id="{746A0EE9-3727-C9F6-80B6-9EF3BE3BB56C}" v="559" dt="2026-06-21T22:25:53.5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13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27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hammed-3tef/European_Football_Leagues_DataWarehous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Eng-M0stafaEhab" TargetMode="External"/><Relationship Id="rId3" Type="http://schemas.openxmlformats.org/officeDocument/2006/relationships/hyperlink" Target="https://www.linkedin.com/in/mohammed-atef-abd-elkader/" TargetMode="External"/><Relationship Id="rId7" Type="http://schemas.openxmlformats.org/officeDocument/2006/relationships/hyperlink" Target="https://www.linkedin.com/in/mustafa-ehab-aql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mohamedahmed2005" TargetMode="External"/><Relationship Id="rId5" Type="http://schemas.openxmlformats.org/officeDocument/2006/relationships/hyperlink" Target="https://www.linkedin.com/in/mohamed-ahmed-ba0815307/" TargetMode="External"/><Relationship Id="rId10" Type="http://schemas.openxmlformats.org/officeDocument/2006/relationships/hyperlink" Target="https://github.com/mostafa-mahmoud-fathy" TargetMode="External"/><Relationship Id="rId4" Type="http://schemas.openxmlformats.org/officeDocument/2006/relationships/hyperlink" Target="https://github.com/Mohammed-3tef" TargetMode="External"/><Relationship Id="rId9" Type="http://schemas.openxmlformats.org/officeDocument/2006/relationships/hyperlink" Target="https://www.linkedin.com/in/mostafa-mahmoud-51b10132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2D0B3F1-E87F-E3E4-30A7-21BF8B7B7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" y="2505"/>
            <a:ext cx="12192000" cy="6858000"/>
          </a:xfrm>
          <a:prstGeom prst="rect">
            <a:avLst/>
          </a:prstGeom>
        </p:spPr>
      </p:pic>
      <p:sp>
        <p:nvSpPr>
          <p:cNvPr id="568" name="Google Shape;568;p37"/>
          <p:cNvSpPr txBox="1">
            <a:spLocks/>
          </p:cNvSpPr>
          <p:nvPr/>
        </p:nvSpPr>
        <p:spPr>
          <a:xfrm rot="21599305">
            <a:off x="2205645" y="2478025"/>
            <a:ext cx="7786768" cy="7707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>
                <a:latin typeface="andalus"/>
                <a:ea typeface="Aptos" panose="020B0004020202020204" pitchFamily="34" charset="0"/>
                <a:cs typeface="andalus"/>
              </a:rPr>
              <a:t>Data Warehouse Project</a:t>
            </a:r>
          </a:p>
        </p:txBody>
      </p:sp>
      <p:sp>
        <p:nvSpPr>
          <p:cNvPr id="569" name="Google Shape;569;p37"/>
          <p:cNvSpPr txBox="1">
            <a:spLocks/>
          </p:cNvSpPr>
          <p:nvPr/>
        </p:nvSpPr>
        <p:spPr>
          <a:xfrm rot="21599826">
            <a:off x="2202537" y="1581791"/>
            <a:ext cx="7786127" cy="127911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5400" b="1">
                <a:latin typeface="andalus"/>
                <a:ea typeface="Aptos" panose="020B0004020202020204" pitchFamily="34" charset="0"/>
                <a:cs typeface="andalus"/>
              </a:rPr>
              <a:t>European Football Leagues</a:t>
            </a:r>
            <a:endParaRPr lang="en-GB" sz="5400">
              <a:latin typeface="andalus"/>
              <a:cs typeface="andalus"/>
            </a:endParaRPr>
          </a:p>
        </p:txBody>
      </p:sp>
      <p:sp>
        <p:nvSpPr>
          <p:cNvPr id="12" name="Google Shape;568;p37">
            <a:extLst>
              <a:ext uri="{FF2B5EF4-FFF2-40B4-BE49-F238E27FC236}">
                <a16:creationId xmlns:a16="http://schemas.microsoft.com/office/drawing/2014/main" id="{4C2A3613-A6F7-C085-3A02-1C29C5EAAF18}"/>
              </a:ext>
            </a:extLst>
          </p:cNvPr>
          <p:cNvSpPr txBox="1">
            <a:spLocks/>
          </p:cNvSpPr>
          <p:nvPr/>
        </p:nvSpPr>
        <p:spPr>
          <a:xfrm rot="21599305">
            <a:off x="4555120" y="3432863"/>
            <a:ext cx="3085831" cy="12787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>
                <a:latin typeface="andalus"/>
                <a:cs typeface="andalus"/>
              </a:rPr>
              <a:t>Supervised: </a:t>
            </a:r>
            <a:br>
              <a:rPr lang="en-US" b="1" dirty="0">
                <a:latin typeface="andalus"/>
                <a:cs typeface="andalus"/>
              </a:rPr>
            </a:br>
            <a:r>
              <a:rPr lang="en-US" b="1" dirty="0">
                <a:latin typeface="andalus"/>
                <a:cs typeface="andalus"/>
              </a:rPr>
              <a:t>Dr. Ali Zidan</a:t>
            </a:r>
            <a:endParaRPr lang="en-US" sz="3600" dirty="0">
              <a:latin typeface="andalus"/>
              <a:cs typeface="andalu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1B1FFC-FF6C-CCA6-F288-F633F850311D}"/>
              </a:ext>
            </a:extLst>
          </p:cNvPr>
          <p:cNvSpPr txBox="1"/>
          <p:nvPr/>
        </p:nvSpPr>
        <p:spPr>
          <a:xfrm>
            <a:off x="2131912" y="5256286"/>
            <a:ext cx="7932365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1600" i="1" dirty="0">
                <a:latin typeface="andalus"/>
                <a:cs typeface="andalus"/>
              </a:rPr>
              <a:t>GitHub Repo: </a:t>
            </a:r>
            <a:r>
              <a:rPr lang="en-GB" sz="1600" i="1" u="sng" dirty="0">
                <a:latin typeface="andalus"/>
                <a:cs typeface="andalus"/>
                <a:hlinkClick r:id="rId3"/>
              </a:rPr>
              <a:t>github.com/Mohammed-3tef/</a:t>
            </a:r>
            <a:r>
              <a:rPr lang="en-GB" sz="1600" i="1" u="sng" dirty="0" err="1">
                <a:latin typeface="andalus"/>
                <a:cs typeface="andalus"/>
                <a:hlinkClick r:id="rId3"/>
              </a:rPr>
              <a:t>European_Football_Leagues_DataWarehouse</a:t>
            </a:r>
            <a:r>
              <a:rPr lang="en-GB" sz="2000" i="1" kern="100" dirty="0">
                <a:effectLst/>
                <a:latin typeface="andalus"/>
                <a:ea typeface="Aptos" panose="020B0004020202020204" pitchFamily="34" charset="0"/>
                <a:cs typeface="andalus"/>
              </a:rPr>
              <a:t> </a:t>
            </a:r>
            <a:endParaRPr lang="en-US" sz="2000" i="1" kern="100">
              <a:effectLst/>
              <a:latin typeface="andalus"/>
              <a:ea typeface="Aptos" panose="020B0004020202020204" pitchFamily="34" charset="0"/>
              <a:cs typeface="andalu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8" grpId="0"/>
      <p:bldP spid="569" grpId="0"/>
      <p:bldP spid="12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596B4B-F24D-3AC0-AC62-8CA494006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260E5AD-5984-F24B-48A5-F58CD0F86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F4753D-F776-A0A8-4ED5-0F318722F280}"/>
              </a:ext>
            </a:extLst>
          </p:cNvPr>
          <p:cNvSpPr txBox="1"/>
          <p:nvPr/>
        </p:nvSpPr>
        <p:spPr>
          <a:xfrm>
            <a:off x="413011" y="331662"/>
            <a:ext cx="6221957" cy="667207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3600" b="1">
                <a:latin typeface="andalus"/>
                <a:cs typeface="andalus"/>
              </a:rPr>
              <a:t>Project Architecture Overview</a:t>
            </a:r>
            <a:endParaRPr lang="en-US" sz="3600">
              <a:latin typeface="andalus"/>
              <a:cs typeface="andalu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E3B48F-29A7-D21D-0D92-AA5F7E7C857D}"/>
              </a:ext>
            </a:extLst>
          </p:cNvPr>
          <p:cNvSpPr txBox="1"/>
          <p:nvPr/>
        </p:nvSpPr>
        <p:spPr>
          <a:xfrm>
            <a:off x="870387" y="2088732"/>
            <a:ext cx="10458647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The ETL process follows a </a:t>
            </a:r>
            <a:r>
              <a:rPr lang="en-US" sz="2400" b="1">
                <a:ea typeface="+mn-lt"/>
                <a:cs typeface="+mn-lt"/>
              </a:rPr>
              <a:t>three-layer</a:t>
            </a:r>
            <a:r>
              <a:rPr lang="en-US" sz="2400">
                <a:ea typeface="+mn-lt"/>
                <a:cs typeface="+mn-lt"/>
              </a:rPr>
              <a:t> architecture: </a:t>
            </a:r>
          </a:p>
          <a:p>
            <a:pPr marL="914400" lvl="1" indent="-457200">
              <a:buAutoNum type="arabicPeriod"/>
            </a:pPr>
            <a:r>
              <a:rPr lang="en-US" sz="2400">
                <a:ea typeface="+mn-lt"/>
                <a:cs typeface="+mn-lt"/>
              </a:rPr>
              <a:t>Source Database (OLTP) </a:t>
            </a:r>
          </a:p>
          <a:p>
            <a:pPr marL="914400" lvl="1" indent="-457200">
              <a:buAutoNum type="arabicPeriod"/>
            </a:pPr>
            <a:r>
              <a:rPr lang="en-US" sz="2400">
                <a:ea typeface="+mn-lt"/>
                <a:cs typeface="+mn-lt"/>
              </a:rPr>
              <a:t>Staging Area (STG) </a:t>
            </a:r>
          </a:p>
          <a:p>
            <a:pPr marL="914400" lvl="1" indent="-457200">
              <a:buAutoNum type="arabicPeriod"/>
            </a:pPr>
            <a:r>
              <a:rPr lang="en-US" sz="2400">
                <a:ea typeface="+mn-lt"/>
                <a:cs typeface="+mn-lt"/>
              </a:rPr>
              <a:t>Data Warehouse (DWH) </a:t>
            </a:r>
          </a:p>
          <a:p>
            <a:pPr lvl="1"/>
            <a:endParaRPr lang="en-US" sz="2400" dirty="0">
              <a:ea typeface="+mn-lt"/>
              <a:cs typeface="+mn-lt"/>
            </a:endParaRPr>
          </a:p>
          <a:p>
            <a:r>
              <a:rPr lang="en-US" sz="2400" b="1">
                <a:ea typeface="+mn-lt"/>
                <a:cs typeface="+mn-lt"/>
              </a:rPr>
              <a:t>Automation Engine:</a:t>
            </a:r>
            <a:r>
              <a:rPr lang="en-US" sz="2400">
                <a:ea typeface="+mn-lt"/>
                <a:cs typeface="+mn-lt"/>
              </a:rPr>
              <a:t> SQL Server Integration Services (SSIS)</a:t>
            </a:r>
          </a:p>
          <a:p>
            <a:r>
              <a:rPr lang="en-US" sz="2400" b="1">
                <a:ea typeface="+mn-lt"/>
                <a:cs typeface="+mn-lt"/>
              </a:rPr>
              <a:t>Reporting Front-End:</a:t>
            </a:r>
            <a:r>
              <a:rPr lang="en-US" sz="2400">
                <a:ea typeface="+mn-lt"/>
                <a:cs typeface="+mn-lt"/>
              </a:rPr>
              <a:t> Power BI Interactive Dashboards</a:t>
            </a:r>
            <a:endParaRPr lang="en-US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9928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4FD4EA-D978-C9B7-E69C-02D8C99B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DDB4291-7928-1E43-AD98-1A9C67649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C48831-0697-D4F7-1A52-772220D705F7}"/>
              </a:ext>
            </a:extLst>
          </p:cNvPr>
          <p:cNvSpPr txBox="1"/>
          <p:nvPr/>
        </p:nvSpPr>
        <p:spPr>
          <a:xfrm>
            <a:off x="406748" y="-6918821"/>
            <a:ext cx="423091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3600" b="1">
                <a:latin typeface="Andalus"/>
                <a:ea typeface="+mn-lt"/>
                <a:cs typeface="Andalus"/>
              </a:rPr>
              <a:t>Staging Area (STG)</a:t>
            </a:r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3F2B25-D48A-478C-7623-C535AB56FD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63" r="2195" b="152"/>
          <a:stretch>
            <a:fillRect/>
          </a:stretch>
        </p:blipFill>
        <p:spPr>
          <a:xfrm>
            <a:off x="4956657" y="-7265096"/>
            <a:ext cx="7163031" cy="68580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652271E-4B8F-6B83-849F-C02204CC9AFD}"/>
              </a:ext>
            </a:extLst>
          </p:cNvPr>
          <p:cNvSpPr txBox="1"/>
          <p:nvPr/>
        </p:nvSpPr>
        <p:spPr>
          <a:xfrm>
            <a:off x="408936" y="-13597942"/>
            <a:ext cx="4942113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3600" b="1">
                <a:latin typeface="Andalus"/>
                <a:ea typeface="+mn-lt"/>
                <a:cs typeface="Andalus"/>
              </a:rPr>
              <a:t>Data Warehouse (DWH)</a:t>
            </a:r>
            <a:endParaRPr lang="en-US"/>
          </a:p>
        </p:txBody>
      </p:sp>
      <p:pic>
        <p:nvPicPr>
          <p:cNvPr id="14" name="Picture 1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7D02C61-D180-9ED5-5E08-5FC64984BA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612" t="5578" r="13277"/>
          <a:stretch>
            <a:fillRect/>
          </a:stretch>
        </p:blipFill>
        <p:spPr>
          <a:xfrm>
            <a:off x="5966945" y="-14363449"/>
            <a:ext cx="6157185" cy="6847845"/>
          </a:xfrm>
          <a:prstGeom prst="rect">
            <a:avLst/>
          </a:prstGeom>
        </p:spPr>
      </p:pic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CA2F13-4522-25F9-3771-20D7DDCCF8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61" r="23845" b="-152"/>
          <a:stretch>
            <a:fillRect/>
          </a:stretch>
        </p:blipFill>
        <p:spPr>
          <a:xfrm>
            <a:off x="5766368" y="-1"/>
            <a:ext cx="6337313" cy="68684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CF121-F880-7A7C-3516-7249AFCA8960}"/>
              </a:ext>
            </a:extLst>
          </p:cNvPr>
          <p:cNvSpPr txBox="1"/>
          <p:nvPr/>
        </p:nvSpPr>
        <p:spPr>
          <a:xfrm>
            <a:off x="414005" y="335836"/>
            <a:ext cx="494211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3600" b="1">
                <a:latin typeface="Andalus"/>
                <a:cs typeface="Andalus"/>
              </a:rPr>
              <a:t>Source Database (OLTP)</a:t>
            </a:r>
            <a:endParaRPr lang="en-US" sz="3600" b="1" dirty="0">
              <a:latin typeface="Andalus"/>
              <a:cs typeface="Andalu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E266BC-FE5F-15BE-3779-86722B5ECCA2}"/>
              </a:ext>
            </a:extLst>
          </p:cNvPr>
          <p:cNvSpPr txBox="1"/>
          <p:nvPr/>
        </p:nvSpPr>
        <p:spPr>
          <a:xfrm>
            <a:off x="594811" y="1947138"/>
            <a:ext cx="4589320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System Purpose:</a:t>
            </a:r>
            <a:r>
              <a:rPr lang="en-US" sz="2400">
                <a:ea typeface="+mn-lt"/>
                <a:cs typeface="+mn-lt"/>
              </a:rPr>
              <a:t> Captures daily operational football data across 10 normalized tables (teams, matches, scores, standings).</a:t>
            </a: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Calibri"/>
              <a:cs typeface="Calibri"/>
            </a:endParaRPr>
          </a:p>
          <a:p>
            <a:r>
              <a:rPr lang="en-US" sz="2400" b="1">
                <a:ea typeface="+mn-lt"/>
                <a:cs typeface="+mn-lt"/>
              </a:rPr>
              <a:t>Strategic Objective:</a:t>
            </a:r>
            <a:r>
              <a:rPr lang="en-US" sz="2400">
                <a:ea typeface="+mn-lt"/>
                <a:cs typeface="+mn-lt"/>
              </a:rPr>
              <a:t> Enforces data integrity and eliminates redundancy; optimized for fast, reliable data writes rather than analytical queries.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1A9B92-94AF-2DA5-07AC-702327A6D45F}"/>
              </a:ext>
            </a:extLst>
          </p:cNvPr>
          <p:cNvSpPr txBox="1"/>
          <p:nvPr/>
        </p:nvSpPr>
        <p:spPr>
          <a:xfrm>
            <a:off x="565783" y="-5651091"/>
            <a:ext cx="3914407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System Purpose:</a:t>
            </a:r>
            <a:r>
              <a:rPr lang="en-US" sz="2400">
                <a:ea typeface="+mn-lt"/>
                <a:cs typeface="+mn-lt"/>
              </a:rPr>
              <a:t> Acts as a temporary intermediate buffer between the live production database and the data warehouse.</a:t>
            </a: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Calibri"/>
              <a:cs typeface="Calibri"/>
            </a:endParaRPr>
          </a:p>
          <a:p>
            <a:r>
              <a:rPr lang="en-US" sz="2400" b="1">
                <a:ea typeface="+mn-lt"/>
                <a:cs typeface="+mn-lt"/>
              </a:rPr>
              <a:t>Strategic Objective:</a:t>
            </a:r>
            <a:r>
              <a:rPr lang="en-US" sz="2400">
                <a:ea typeface="+mn-lt"/>
                <a:cs typeface="+mn-lt"/>
              </a:rPr>
              <a:t> Protects the production database by pulling incremental data updates, then cleaning and normalizing it before warehouse loading.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EA40BE-CA30-CB4B-D197-94572AA49A84}"/>
              </a:ext>
            </a:extLst>
          </p:cNvPr>
          <p:cNvSpPr txBox="1"/>
          <p:nvPr/>
        </p:nvSpPr>
        <p:spPr>
          <a:xfrm>
            <a:off x="580296" y="-12429262"/>
            <a:ext cx="4589320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System Purpose:</a:t>
            </a:r>
            <a:r>
              <a:rPr lang="en-US" sz="2400">
                <a:ea typeface="+mn-lt"/>
                <a:cs typeface="+mn-lt"/>
              </a:rPr>
              <a:t> Centralized analytical engine structured as a Star Schema with conformed dimensions linked to multi-perspective fact tables.</a:t>
            </a: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Calibri"/>
              <a:cs typeface="Calibri"/>
            </a:endParaRPr>
          </a:p>
          <a:p>
            <a:r>
              <a:rPr lang="en-US" sz="2400" b="1">
                <a:ea typeface="+mn-lt"/>
                <a:cs typeface="+mn-lt"/>
              </a:rPr>
              <a:t>Strategic Objective:</a:t>
            </a:r>
            <a:r>
              <a:rPr lang="en-US" sz="2400">
                <a:ea typeface="+mn-lt"/>
                <a:cs typeface="+mn-lt"/>
              </a:rPr>
              <a:t> Speeds up queries, simplifies complex joins, and tracks historical changes (via SCD Type 2) to power KPIs and Power BI dashboards.</a:t>
            </a:r>
            <a:endParaRPr lang="en-US" sz="24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29273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9C397E-D5E5-1725-F7F8-12EF0B5D7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4813DD5-0AD8-809C-1832-B62F7802D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AF04B7-33DA-5F8E-FF00-D2212E793BA4}"/>
              </a:ext>
            </a:extLst>
          </p:cNvPr>
          <p:cNvSpPr txBox="1"/>
          <p:nvPr/>
        </p:nvSpPr>
        <p:spPr>
          <a:xfrm>
            <a:off x="406748" y="335836"/>
            <a:ext cx="4158342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3600" b="1">
                <a:latin typeface="Andalus"/>
                <a:ea typeface="+mn-lt"/>
                <a:cs typeface="Andalus"/>
              </a:rPr>
              <a:t>Staging Area (STG)</a:t>
            </a:r>
            <a:endParaRPr lang="en-US" b="1">
              <a:latin typeface="Andalus"/>
              <a:cs typeface="Andalus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D1B6C7-4F61-17A1-F683-EA3D4EB582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63" r="2195" b="152"/>
          <a:stretch>
            <a:fillRect/>
          </a:stretch>
        </p:blipFill>
        <p:spPr>
          <a:xfrm>
            <a:off x="4956657" y="-10438"/>
            <a:ext cx="7163031" cy="68580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D72085-6E47-6A4A-12A6-3B46F17DCD4E}"/>
              </a:ext>
            </a:extLst>
          </p:cNvPr>
          <p:cNvSpPr txBox="1"/>
          <p:nvPr/>
        </p:nvSpPr>
        <p:spPr>
          <a:xfrm>
            <a:off x="416193" y="-6343284"/>
            <a:ext cx="494937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3600" b="1">
                <a:latin typeface="Andalus"/>
                <a:ea typeface="+mn-lt"/>
                <a:cs typeface="Andalus"/>
              </a:rPr>
              <a:t>Data Warehouse (DWH)</a:t>
            </a:r>
            <a:endParaRPr lang="en-US"/>
          </a:p>
        </p:txBody>
      </p:sp>
      <p:pic>
        <p:nvPicPr>
          <p:cNvPr id="14" name="Picture 1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F8833B3-37B9-F071-9B66-7EAB693DCF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612" t="5578" r="13277"/>
          <a:stretch>
            <a:fillRect/>
          </a:stretch>
        </p:blipFill>
        <p:spPr>
          <a:xfrm>
            <a:off x="5966945" y="-7108792"/>
            <a:ext cx="6157185" cy="6847845"/>
          </a:xfrm>
          <a:prstGeom prst="rect">
            <a:avLst/>
          </a:prstGeom>
        </p:spPr>
      </p:pic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287460-6B7E-B902-DD9C-11ECEE9B63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61" r="23845" b="-152"/>
          <a:stretch>
            <a:fillRect/>
          </a:stretch>
        </p:blipFill>
        <p:spPr>
          <a:xfrm>
            <a:off x="5766368" y="7254656"/>
            <a:ext cx="6337313" cy="68684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3B5219-4E4B-85F0-ACBA-1747DE061AF4}"/>
              </a:ext>
            </a:extLst>
          </p:cNvPr>
          <p:cNvSpPr txBox="1"/>
          <p:nvPr/>
        </p:nvSpPr>
        <p:spPr>
          <a:xfrm>
            <a:off x="529497" y="1606052"/>
            <a:ext cx="3914407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System Purpose:</a:t>
            </a:r>
            <a:r>
              <a:rPr lang="en-US" sz="2400">
                <a:ea typeface="+mn-lt"/>
                <a:cs typeface="+mn-lt"/>
              </a:rPr>
              <a:t> Acts as a temporary intermediate buffer between the live production database and the data warehouse.</a:t>
            </a: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Calibri"/>
              <a:cs typeface="Calibri"/>
            </a:endParaRPr>
          </a:p>
          <a:p>
            <a:r>
              <a:rPr lang="en-US" sz="2400" b="1">
                <a:ea typeface="+mn-lt"/>
                <a:cs typeface="+mn-lt"/>
              </a:rPr>
              <a:t>Strategic Objective:</a:t>
            </a:r>
            <a:r>
              <a:rPr lang="en-US" sz="2400">
                <a:ea typeface="+mn-lt"/>
                <a:cs typeface="+mn-lt"/>
              </a:rPr>
              <a:t> Protects the production database by pulling incremental data updates, then cleaning and normalizing it before warehouse loading.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4829BC-8C4F-0D0B-AAE1-109AB381C520}"/>
              </a:ext>
            </a:extLst>
          </p:cNvPr>
          <p:cNvSpPr txBox="1"/>
          <p:nvPr/>
        </p:nvSpPr>
        <p:spPr>
          <a:xfrm>
            <a:off x="232576" y="7382522"/>
            <a:ext cx="494211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3600" b="1">
                <a:latin typeface="Andalus"/>
                <a:cs typeface="Andalus"/>
              </a:rPr>
              <a:t>Source Database (OLTP)</a:t>
            </a:r>
            <a:endParaRPr lang="en-US" sz="3600" b="1" dirty="0">
              <a:latin typeface="Andalus"/>
              <a:cs typeface="Andalu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3336DD-1864-6952-5C1A-F2A8B216F5D4}"/>
              </a:ext>
            </a:extLst>
          </p:cNvPr>
          <p:cNvSpPr txBox="1"/>
          <p:nvPr/>
        </p:nvSpPr>
        <p:spPr>
          <a:xfrm>
            <a:off x="413382" y="8993824"/>
            <a:ext cx="4589320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System Purpose:</a:t>
            </a:r>
            <a:r>
              <a:rPr lang="en-US" sz="2400">
                <a:ea typeface="+mn-lt"/>
                <a:cs typeface="+mn-lt"/>
              </a:rPr>
              <a:t> Captures daily operational football data across 10 normalized tables (teams, matches, scores, standings).</a:t>
            </a: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Calibri"/>
              <a:cs typeface="Calibri"/>
            </a:endParaRPr>
          </a:p>
          <a:p>
            <a:r>
              <a:rPr lang="en-US" sz="2400" b="1">
                <a:ea typeface="+mn-lt"/>
                <a:cs typeface="+mn-lt"/>
              </a:rPr>
              <a:t>Strategic Objective:</a:t>
            </a:r>
            <a:r>
              <a:rPr lang="en-US" sz="2400">
                <a:ea typeface="+mn-lt"/>
                <a:cs typeface="+mn-lt"/>
              </a:rPr>
              <a:t> Enforces data integrity and eliminates redundancy; optimized for fast, reliable data writes rather than analytical queries.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FF3829-2888-77C1-5477-F2008F4DB949}"/>
              </a:ext>
            </a:extLst>
          </p:cNvPr>
          <p:cNvSpPr txBox="1"/>
          <p:nvPr/>
        </p:nvSpPr>
        <p:spPr>
          <a:xfrm>
            <a:off x="609325" y="-5128577"/>
            <a:ext cx="4589320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System Purpose:</a:t>
            </a:r>
            <a:r>
              <a:rPr lang="en-US" sz="2400">
                <a:ea typeface="+mn-lt"/>
                <a:cs typeface="+mn-lt"/>
              </a:rPr>
              <a:t> Centralized analytical engine structured as a Star Schema with conformed dimensions linked to multi-perspective fact tables.</a:t>
            </a: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Calibri"/>
              <a:cs typeface="Calibri"/>
            </a:endParaRPr>
          </a:p>
          <a:p>
            <a:r>
              <a:rPr lang="en-US" sz="2400" b="1">
                <a:ea typeface="+mn-lt"/>
                <a:cs typeface="+mn-lt"/>
              </a:rPr>
              <a:t>Strategic Objective:</a:t>
            </a:r>
            <a:r>
              <a:rPr lang="en-US" sz="2400">
                <a:ea typeface="+mn-lt"/>
                <a:cs typeface="+mn-lt"/>
              </a:rPr>
              <a:t> Speeds up queries, simplifies complex joins, and tracks historical changes (via SCD Type 2) to power KPIs and Power BI dashboards.</a:t>
            </a:r>
            <a:endParaRPr lang="en-US" sz="24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86373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C81771-83E2-F26C-4A39-A158F0279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8E77D37-104A-B482-7D2B-2BD6313B7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7A5EB9-7B2E-5F77-331B-C4FBA53E139A}"/>
              </a:ext>
            </a:extLst>
          </p:cNvPr>
          <p:cNvSpPr txBox="1"/>
          <p:nvPr/>
        </p:nvSpPr>
        <p:spPr>
          <a:xfrm>
            <a:off x="406748" y="7475671"/>
            <a:ext cx="423091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3600" b="1">
                <a:latin typeface="Andalus"/>
                <a:ea typeface="+mn-lt"/>
                <a:cs typeface="Andalus"/>
              </a:rPr>
              <a:t>Staging Area (STG)</a:t>
            </a:r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2EF0D3-3D27-C2BD-181A-85F17C12D2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63" r="2195" b="152"/>
          <a:stretch>
            <a:fillRect/>
          </a:stretch>
        </p:blipFill>
        <p:spPr>
          <a:xfrm>
            <a:off x="4956657" y="7129397"/>
            <a:ext cx="7163031" cy="68580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C9B2A7C-1388-091B-4E69-C8BC0C951C78}"/>
              </a:ext>
            </a:extLst>
          </p:cNvPr>
          <p:cNvSpPr txBox="1"/>
          <p:nvPr/>
        </p:nvSpPr>
        <p:spPr>
          <a:xfrm>
            <a:off x="416193" y="519552"/>
            <a:ext cx="497839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3600" b="1">
                <a:latin typeface="Andalus"/>
                <a:ea typeface="+mn-lt"/>
                <a:cs typeface="Andalus"/>
              </a:rPr>
              <a:t>Data Warehouse (DWH)</a:t>
            </a:r>
            <a:endParaRPr lang="en-US"/>
          </a:p>
        </p:txBody>
      </p:sp>
      <p:pic>
        <p:nvPicPr>
          <p:cNvPr id="14" name="Picture 1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9A98239-E95A-ECF7-7923-282949B95A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612" t="5578" r="13277"/>
          <a:stretch>
            <a:fillRect/>
          </a:stretch>
        </p:blipFill>
        <p:spPr>
          <a:xfrm>
            <a:off x="5966945" y="31043"/>
            <a:ext cx="6157185" cy="684784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3CEF3E6-7BF0-22BC-8FC9-071E6E87482F}"/>
              </a:ext>
            </a:extLst>
          </p:cNvPr>
          <p:cNvSpPr txBox="1"/>
          <p:nvPr/>
        </p:nvSpPr>
        <p:spPr>
          <a:xfrm>
            <a:off x="413011" y="14747030"/>
            <a:ext cx="498565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3600" b="1">
                <a:latin typeface="andalus"/>
                <a:cs typeface="andalus"/>
              </a:rPr>
              <a:t>Source Database (OLTP)</a:t>
            </a:r>
            <a:endParaRPr lang="en-US" sz="3600">
              <a:latin typeface="andalus"/>
              <a:cs typeface="andalus"/>
            </a:endParaRPr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5DC301-DABA-935A-3769-40704B7F23A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61" r="23845" b="-152"/>
          <a:stretch>
            <a:fillRect/>
          </a:stretch>
        </p:blipFill>
        <p:spPr>
          <a:xfrm>
            <a:off x="5766368" y="14394491"/>
            <a:ext cx="6337313" cy="68684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B52B54-BAE1-94BB-304D-0AB5B890F6CE}"/>
              </a:ext>
            </a:extLst>
          </p:cNvPr>
          <p:cNvSpPr txBox="1"/>
          <p:nvPr/>
        </p:nvSpPr>
        <p:spPr>
          <a:xfrm>
            <a:off x="609325" y="1714909"/>
            <a:ext cx="4589320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System Purpose:</a:t>
            </a:r>
            <a:r>
              <a:rPr lang="en-US" sz="2400">
                <a:ea typeface="+mn-lt"/>
                <a:cs typeface="+mn-lt"/>
              </a:rPr>
              <a:t> Centralized analytical engine structured as a Star Schema with conformed dimensions linked to multi-perspective fact tables.</a:t>
            </a: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Calibri"/>
              <a:cs typeface="Calibri"/>
            </a:endParaRPr>
          </a:p>
          <a:p>
            <a:r>
              <a:rPr lang="en-US" sz="2400" b="1">
                <a:ea typeface="+mn-lt"/>
                <a:cs typeface="+mn-lt"/>
              </a:rPr>
              <a:t>Strategic Objective:</a:t>
            </a:r>
            <a:r>
              <a:rPr lang="en-US" sz="2400">
                <a:ea typeface="+mn-lt"/>
                <a:cs typeface="+mn-lt"/>
              </a:rPr>
              <a:t> Speeds up queries, simplifies complex joins, and tracks historical changes (via SCD Type 2) to power KPIs and Power BI dashboards.</a:t>
            </a:r>
            <a:endParaRPr lang="en-US" sz="2400" dirty="0">
              <a:ea typeface="+mn-lt"/>
              <a:cs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C2730D-5A18-DEFA-F2D5-53068CB9275D}"/>
              </a:ext>
            </a:extLst>
          </p:cNvPr>
          <p:cNvSpPr txBox="1"/>
          <p:nvPr/>
        </p:nvSpPr>
        <p:spPr>
          <a:xfrm>
            <a:off x="587554" y="8732566"/>
            <a:ext cx="3914407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System Purpose:</a:t>
            </a:r>
            <a:r>
              <a:rPr lang="en-US" sz="2400">
                <a:ea typeface="+mn-lt"/>
                <a:cs typeface="+mn-lt"/>
              </a:rPr>
              <a:t> Acts as a temporary intermediate buffer between the live production database and the data warehouse.</a:t>
            </a: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Calibri"/>
              <a:cs typeface="Calibri"/>
            </a:endParaRPr>
          </a:p>
          <a:p>
            <a:r>
              <a:rPr lang="en-US" sz="2400" b="1">
                <a:ea typeface="+mn-lt"/>
                <a:cs typeface="+mn-lt"/>
              </a:rPr>
              <a:t>Strategic Objective:</a:t>
            </a:r>
            <a:r>
              <a:rPr lang="en-US" sz="2400">
                <a:ea typeface="+mn-lt"/>
                <a:cs typeface="+mn-lt"/>
              </a:rPr>
              <a:t> Protects the production database by pulling incremental data updates, then cleaning and normalizing it before warehouse loading.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7B247F-ED79-ADBD-4D06-33C3EBC7AF2E}"/>
              </a:ext>
            </a:extLst>
          </p:cNvPr>
          <p:cNvSpPr txBox="1"/>
          <p:nvPr/>
        </p:nvSpPr>
        <p:spPr>
          <a:xfrm>
            <a:off x="616582" y="16381595"/>
            <a:ext cx="4589320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System Purpose:</a:t>
            </a:r>
            <a:r>
              <a:rPr lang="en-US" sz="2400">
                <a:ea typeface="+mn-lt"/>
                <a:cs typeface="+mn-lt"/>
              </a:rPr>
              <a:t> Captures daily operational football data across 10 normalized tables (teams, matches, scores, standings).</a:t>
            </a:r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Calibri"/>
              <a:cs typeface="Calibri"/>
            </a:endParaRPr>
          </a:p>
          <a:p>
            <a:r>
              <a:rPr lang="en-US" sz="2400" b="1">
                <a:ea typeface="+mn-lt"/>
                <a:cs typeface="+mn-lt"/>
              </a:rPr>
              <a:t>Strategic Objective:</a:t>
            </a:r>
            <a:r>
              <a:rPr lang="en-US" sz="2400">
                <a:ea typeface="+mn-lt"/>
                <a:cs typeface="+mn-lt"/>
              </a:rPr>
              <a:t> Enforces data integrity and eliminates redundancy; optimized for fast, reliable data writes rather than analytical queries.</a:t>
            </a:r>
          </a:p>
        </p:txBody>
      </p:sp>
    </p:spTree>
    <p:extLst>
      <p:ext uri="{BB962C8B-B14F-4D97-AF65-F5344CB8AC3E}">
        <p14:creationId xmlns:p14="http://schemas.microsoft.com/office/powerpoint/2010/main" val="1175078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AE01C1-3521-7700-4C8D-140DFE46B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25F5CC-D71D-FA27-207D-5570AEE45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95E97EB-9524-6D99-B18B-654DD94B0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824220"/>
              </p:ext>
            </p:extLst>
          </p:nvPr>
        </p:nvGraphicFramePr>
        <p:xfrm>
          <a:off x="705395" y="2239118"/>
          <a:ext cx="10774635" cy="308885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079873">
                  <a:extLst>
                    <a:ext uri="{9D8B030D-6E8A-4147-A177-3AD203B41FA5}">
                      <a16:colId xmlns:a16="http://schemas.microsoft.com/office/drawing/2014/main" val="2640917345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3044851414"/>
                    </a:ext>
                  </a:extLst>
                </a:gridCol>
                <a:gridCol w="4265887">
                  <a:extLst>
                    <a:ext uri="{9D8B030D-6E8A-4147-A177-3AD203B41FA5}">
                      <a16:colId xmlns:a16="http://schemas.microsoft.com/office/drawing/2014/main" val="2575598296"/>
                    </a:ext>
                  </a:extLst>
                </a:gridCol>
              </a:tblGrid>
              <a:tr h="60118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/>
                        <a:t>Fact Table 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/>
                        <a:t>Grain 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/>
                        <a:t>Description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3620660"/>
                  </a:ext>
                </a:extLst>
              </a:tr>
              <a:tr h="82922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 dirty="0" err="1">
                          <a:latin typeface="Consolas"/>
                        </a:rPr>
                        <a:t>Fact_Team_Monthly_Stat</a:t>
                      </a:r>
                      <a:endParaRPr lang="en-US"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/>
                        <a:t>One Team + One League + One Month 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/>
                        <a:t>Stores aggregated monthly performance statistics for teams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183519"/>
                  </a:ext>
                </a:extLst>
              </a:tr>
              <a:tr h="82922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 dirty="0" err="1">
                          <a:latin typeface="Consolas"/>
                        </a:rPr>
                        <a:t>Fact_Scoring_Efficiency</a:t>
                      </a:r>
                      <a:endParaRPr lang="en-US"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/>
                        <a:t>One Team + One Match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/>
                        <a:t>Stores detailed scoring and efficiency metrics for every match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3589388"/>
                  </a:ext>
                </a:extLst>
              </a:tr>
              <a:tr h="82922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 dirty="0" err="1">
                          <a:latin typeface="Consolas"/>
                        </a:rPr>
                        <a:t>Fact_Coach_Stadium_Performance</a:t>
                      </a:r>
                      <a:endParaRPr lang="en-US">
                        <a:latin typeface="Consola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/>
                        <a:t>One Team + One Match 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/>
                        <a:t>Stores coach and stadium related performance analytics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977319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7AC00A2-A6DD-21FC-7818-D97B65B8C0AB}"/>
              </a:ext>
            </a:extLst>
          </p:cNvPr>
          <p:cNvSpPr txBox="1"/>
          <p:nvPr/>
        </p:nvSpPr>
        <p:spPr>
          <a:xfrm>
            <a:off x="423450" y="519552"/>
            <a:ext cx="1120502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3600" b="1">
                <a:latin typeface="Andalus"/>
                <a:ea typeface="+mn-lt"/>
                <a:cs typeface="Andalus"/>
              </a:rPr>
              <a:t>Fact Tables &amp; Analytical Granularity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835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2A2ABB-1936-2B3D-B010-D19B1615D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86B1775-FAC8-ECF4-8B10-B79392074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581083-0A04-A638-33F6-4C357AEC69EC}"/>
              </a:ext>
            </a:extLst>
          </p:cNvPr>
          <p:cNvSpPr txBox="1"/>
          <p:nvPr/>
        </p:nvSpPr>
        <p:spPr>
          <a:xfrm>
            <a:off x="413011" y="352538"/>
            <a:ext cx="655598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3600" b="1">
                <a:latin typeface="andalus"/>
                <a:ea typeface="+mn-lt"/>
                <a:cs typeface="andalus"/>
              </a:rPr>
              <a:t>The ETL Process Architecture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ACAAB4-2AA9-4C94-1F9C-FC6156578D69}"/>
              </a:ext>
            </a:extLst>
          </p:cNvPr>
          <p:cNvSpPr txBox="1"/>
          <p:nvPr/>
        </p:nvSpPr>
        <p:spPr>
          <a:xfrm>
            <a:off x="870387" y="1534734"/>
            <a:ext cx="10748932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Tool Utilized:</a:t>
            </a:r>
            <a:r>
              <a:rPr lang="en-US" sz="2400">
                <a:ea typeface="+mn-lt"/>
                <a:cs typeface="+mn-lt"/>
              </a:rPr>
              <a:t> SQL Server Integration Services (SSIS).</a:t>
            </a:r>
            <a:endParaRPr lang="en-US"/>
          </a:p>
          <a:p>
            <a:pPr lvl="1"/>
            <a:endParaRPr lang="en-US" sz="2400" dirty="0">
              <a:ea typeface="+mn-lt"/>
              <a:cs typeface="+mn-lt"/>
            </a:endParaRPr>
          </a:p>
          <a:p>
            <a:r>
              <a:rPr lang="en-US" sz="2400" b="1">
                <a:ea typeface="+mn-lt"/>
                <a:cs typeface="+mn-lt"/>
              </a:rPr>
              <a:t>Core Phases: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dirty="0">
              <a:ea typeface="+mn-lt"/>
              <a:cs typeface="+mn-lt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Extraction:</a:t>
            </a:r>
            <a:r>
              <a:rPr lang="en-US" sz="2400" dirty="0">
                <a:ea typeface="+mn-lt"/>
                <a:cs typeface="+mn-lt"/>
              </a:rPr>
              <a:t> Pulls incremental deltas utilizing an operational </a:t>
            </a:r>
            <a:r>
              <a:rPr lang="en-US" sz="2400" dirty="0" err="1">
                <a:latin typeface="Consolas"/>
                <a:ea typeface="+mn-lt"/>
                <a:cs typeface="+mn-lt"/>
              </a:rPr>
              <a:t>updated_at</a:t>
            </a:r>
            <a:r>
              <a:rPr lang="en-US" sz="2400" dirty="0">
                <a:ea typeface="+mn-lt"/>
                <a:cs typeface="+mn-lt"/>
              </a:rPr>
              <a:t> filter column. </a:t>
            </a:r>
            <a:endParaRPr lang="en-US">
              <a:ea typeface="Calibri"/>
              <a:cs typeface="Calibri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Transformation:</a:t>
            </a:r>
            <a:r>
              <a:rPr lang="en-US" sz="2400">
                <a:ea typeface="+mn-lt"/>
                <a:cs typeface="+mn-lt"/>
              </a:rPr>
              <a:t> Cleans null values, standardizes formats, calculates points/goals, maps surrogate keys, and generates junk indicators. </a:t>
            </a:r>
            <a:endParaRPr lang="en-US">
              <a:ea typeface="Calibri"/>
              <a:cs typeface="Calibri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Loading Sequence:</a:t>
            </a:r>
            <a:r>
              <a:rPr lang="en-US" sz="2400">
                <a:ea typeface="+mn-lt"/>
                <a:cs typeface="+mn-lt"/>
              </a:rPr>
              <a:t> Enforces strict execution paths by loading Dimension Tables first, generating surrogate keys, and finally executing Fact Lookup sequences. 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4057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D5ABA3-508B-1C7C-1C6F-C26A01EAD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DA4B58E-C1A1-A6E9-B3E3-45A17ECB0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719517-B746-853E-08CE-7258D9CEC77B}"/>
              </a:ext>
            </a:extLst>
          </p:cNvPr>
          <p:cNvSpPr txBox="1"/>
          <p:nvPr/>
        </p:nvSpPr>
        <p:spPr>
          <a:xfrm>
            <a:off x="413011" y="352538"/>
            <a:ext cx="655598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3600" b="1">
                <a:latin typeface="andalus"/>
                <a:ea typeface="+mn-lt"/>
                <a:cs typeface="andalus"/>
              </a:rPr>
              <a:t>Incremental Load Optimization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E09165-04CC-5E74-C8D5-5D02EF85B8E9}"/>
              </a:ext>
            </a:extLst>
          </p:cNvPr>
          <p:cNvSpPr txBox="1"/>
          <p:nvPr/>
        </p:nvSpPr>
        <p:spPr>
          <a:xfrm>
            <a:off x="870387" y="1981010"/>
            <a:ext cx="10748932" cy="2893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ea typeface="+mn-lt"/>
                <a:cs typeface="+mn-lt"/>
              </a:rPr>
              <a:t>Strategy:</a:t>
            </a:r>
            <a:r>
              <a:rPr lang="en-US" sz="2400">
                <a:ea typeface="+mn-lt"/>
                <a:cs typeface="+mn-lt"/>
              </a:rPr>
              <a:t> Employs delta tracking via a specific extraction filter query:</a:t>
            </a:r>
            <a:endParaRPr lang="en-US">
              <a:latin typeface="Calibri"/>
              <a:ea typeface="+mn-lt"/>
              <a:cs typeface="+mn-lt"/>
            </a:endParaRPr>
          </a:p>
          <a:p>
            <a:endParaRPr lang="en-US" sz="1100" dirty="0">
              <a:latin typeface="Calibri"/>
              <a:ea typeface="+mn-lt"/>
              <a:cs typeface="+mn-lt"/>
            </a:endParaRPr>
          </a:p>
          <a:p>
            <a:pPr algn="ctr"/>
            <a:r>
              <a:rPr lang="en-US" sz="2400" dirty="0">
                <a:latin typeface="Consolas"/>
                <a:ea typeface="+mn-lt"/>
                <a:cs typeface="+mn-lt"/>
              </a:rPr>
              <a:t>SELECT * FROM teams WHERE </a:t>
            </a:r>
            <a:r>
              <a:rPr lang="en-US" sz="2400" dirty="0" err="1">
                <a:latin typeface="Consolas"/>
                <a:ea typeface="+mn-lt"/>
                <a:cs typeface="+mn-lt"/>
              </a:rPr>
              <a:t>updated_at</a:t>
            </a:r>
            <a:r>
              <a:rPr lang="en-US" sz="2400" dirty="0">
                <a:latin typeface="Consolas"/>
                <a:ea typeface="+mn-lt"/>
                <a:cs typeface="+mn-lt"/>
              </a:rPr>
              <a:t> &gt; @LastExtractDate;</a:t>
            </a:r>
            <a:endParaRPr lang="en-US" sz="2400" dirty="0">
              <a:ea typeface="Calibri"/>
              <a:cs typeface="Calibri"/>
            </a:endParaRPr>
          </a:p>
          <a:p>
            <a:endParaRPr lang="en-US" sz="2400" b="1" dirty="0">
              <a:ea typeface="+mn-lt"/>
              <a:cs typeface="+mn-lt"/>
            </a:endParaRPr>
          </a:p>
          <a:p>
            <a:r>
              <a:rPr lang="en-US" sz="2400" b="1">
                <a:ea typeface="+mn-lt"/>
                <a:cs typeface="+mn-lt"/>
              </a:rPr>
              <a:t>Pipeline Advantages: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dirty="0">
              <a:ea typeface="Calibri"/>
              <a:cs typeface="Calibri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Dramatically accelerates overall ETL processing runs.</a:t>
            </a:r>
            <a:endParaRPr lang="en-US">
              <a:ea typeface="+mn-lt"/>
              <a:cs typeface="+mn-lt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Lowers live server strain and operational database overhead.</a:t>
            </a:r>
            <a:endParaRPr lang="en-US">
              <a:ea typeface="+mn-lt"/>
              <a:cs typeface="+mn-lt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Enhances scheduling and multi-season scaling potential.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727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E8FFF9-E722-9DA6-4080-7CFA0BC2A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F7A5B39-231B-A067-67C3-55DDC1CD0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5F7FA94-FA1F-3A81-8647-8DAB890AAFEB}"/>
              </a:ext>
            </a:extLst>
          </p:cNvPr>
          <p:cNvSpPr txBox="1"/>
          <p:nvPr/>
        </p:nvSpPr>
        <p:spPr>
          <a:xfrm>
            <a:off x="1310710" y="2273662"/>
            <a:ext cx="9562229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7200" b="1">
                <a:latin typeface="Andalus"/>
                <a:ea typeface="Calibri"/>
                <a:cs typeface="Andalus"/>
              </a:rPr>
              <a:t>Power BI </a:t>
            </a:r>
            <a:br>
              <a:rPr lang="en-US" sz="7200" b="1" dirty="0">
                <a:latin typeface="Andalus"/>
                <a:ea typeface="Calibri"/>
                <a:cs typeface="Andalus"/>
              </a:rPr>
            </a:br>
            <a:r>
              <a:rPr lang="en-US" sz="7200" b="1">
                <a:latin typeface="Andalus"/>
                <a:ea typeface="Calibri"/>
                <a:cs typeface="Andalus"/>
              </a:rPr>
              <a:t>Interactive Dashboards</a:t>
            </a:r>
            <a:endParaRPr lang="en-US" sz="7200" b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6824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CB46DB-7A86-BB55-0258-C853300B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AF09B2F-D591-21AA-BEDE-267FD750F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947D29-283F-C917-83AC-407256F59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39230" cy="6858000"/>
          </a:xfrm>
          <a:prstGeom prst="rect">
            <a:avLst/>
          </a:prstGeom>
        </p:spPr>
      </p:pic>
      <p:pic>
        <p:nvPicPr>
          <p:cNvPr id="3" name="Picture 2" descr="A screenshot of a football game&#10;&#10;AI-generated content may be incorrect.">
            <a:extLst>
              <a:ext uri="{FF2B5EF4-FFF2-40B4-BE49-F238E27FC236}">
                <a16:creationId xmlns:a16="http://schemas.microsoft.com/office/drawing/2014/main" id="{A62CB840-F44B-6340-2B53-227F98500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0099" y="685253"/>
            <a:ext cx="9724571" cy="54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517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131085-8440-A080-B059-3EA44A300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B8E8C15-67C4-9306-35EE-2271BD169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9E2E80-7DFD-523D-26FD-1C9300C74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73512" y="689429"/>
            <a:ext cx="9708087" cy="5486400"/>
          </a:xfrm>
          <a:prstGeom prst="rect">
            <a:avLst/>
          </a:prstGeom>
        </p:spPr>
      </p:pic>
      <p:pic>
        <p:nvPicPr>
          <p:cNvPr id="3" name="Picture 2" descr="A screenshot of a football game&#10;&#10;AI-generated content may be incorrect.">
            <a:extLst>
              <a:ext uri="{FF2B5EF4-FFF2-40B4-BE49-F238E27FC236}">
                <a16:creationId xmlns:a16="http://schemas.microsoft.com/office/drawing/2014/main" id="{4DD80D8D-7644-1562-6832-1450B835EF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175" y="-4175"/>
            <a:ext cx="12192000" cy="6858000"/>
          </a:xfrm>
          <a:prstGeom prst="rect">
            <a:avLst/>
          </a:prstGeom>
        </p:spPr>
      </p:pic>
      <p:pic>
        <p:nvPicPr>
          <p:cNvPr id="5" name="Picture 4" descr="A screenshot of a football game&#10;&#10;AI-generated content may be incorrect.">
            <a:extLst>
              <a:ext uri="{FF2B5EF4-FFF2-40B4-BE49-F238E27FC236}">
                <a16:creationId xmlns:a16="http://schemas.microsoft.com/office/drawing/2014/main" id="{39FDD567-EED2-06D0-0729-3EDEB33515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53286" y="689429"/>
            <a:ext cx="974620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75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E61F1-3127-7864-9097-53794F75B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C82BA39-D8AC-7FCF-89FB-9A88E0D9F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screenshot of a football game&#10;&#10;AI-generated content may be incorrect.">
            <a:extLst>
              <a:ext uri="{FF2B5EF4-FFF2-40B4-BE49-F238E27FC236}">
                <a16:creationId xmlns:a16="http://schemas.microsoft.com/office/drawing/2014/main" id="{0A33918B-87CC-5BBF-A3CF-C753AF237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929361" y="685253"/>
            <a:ext cx="9753600" cy="5486400"/>
          </a:xfrm>
          <a:prstGeom prst="rect">
            <a:avLst/>
          </a:prstGeom>
        </p:spPr>
      </p:pic>
      <p:pic>
        <p:nvPicPr>
          <p:cNvPr id="5" name="Picture 4" descr="A screenshot of a football game&#10;&#10;AI-generated content may be incorrect.">
            <a:extLst>
              <a:ext uri="{FF2B5EF4-FFF2-40B4-BE49-F238E27FC236}">
                <a16:creationId xmlns:a16="http://schemas.microsoft.com/office/drawing/2014/main" id="{5CEF57D1-B70B-20F7-C444-56A3B3FAD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8" y="0"/>
            <a:ext cx="12184601" cy="6858000"/>
          </a:xfrm>
          <a:prstGeom prst="rect">
            <a:avLst/>
          </a:prstGeom>
        </p:spPr>
      </p:pic>
      <p:pic>
        <p:nvPicPr>
          <p:cNvPr id="4" name="Picture 3" descr="A screenshot of a football game&#10;&#10;AI-generated content may be incorrect.">
            <a:extLst>
              <a:ext uri="{FF2B5EF4-FFF2-40B4-BE49-F238E27FC236}">
                <a16:creationId xmlns:a16="http://schemas.microsoft.com/office/drawing/2014/main" id="{D4A04565-D61E-A527-D813-F93A30AA0F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73112" y="689429"/>
            <a:ext cx="9741808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051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03DC43-50D0-F1D4-FF16-4AD7099E4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12BA13E-B271-5447-9B98-7CFCA2403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screenshot of a football game&#10;&#10;AI-generated content may be incorrect.">
            <a:extLst>
              <a:ext uri="{FF2B5EF4-FFF2-40B4-BE49-F238E27FC236}">
                <a16:creationId xmlns:a16="http://schemas.microsoft.com/office/drawing/2014/main" id="{B891B547-2622-B836-31DB-EE475EE6F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924670" y="689429"/>
            <a:ext cx="9746201" cy="5486400"/>
          </a:xfrm>
          <a:prstGeom prst="rect">
            <a:avLst/>
          </a:prstGeom>
        </p:spPr>
      </p:pic>
      <p:pic>
        <p:nvPicPr>
          <p:cNvPr id="4" name="Picture 3" descr="A screenshot of a football game&#10;&#10;AI-generated content may be incorrect.">
            <a:extLst>
              <a:ext uri="{FF2B5EF4-FFF2-40B4-BE49-F238E27FC236}">
                <a16:creationId xmlns:a16="http://schemas.microsoft.com/office/drawing/2014/main" id="{0BBD7BB8-3BD1-DB08-B968-CFFCFDF65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" y="0"/>
            <a:ext cx="12172950" cy="6858000"/>
          </a:xfrm>
          <a:prstGeom prst="rect">
            <a:avLst/>
          </a:prstGeom>
        </p:spPr>
      </p:pic>
      <p:pic>
        <p:nvPicPr>
          <p:cNvPr id="6" name="Picture 5" descr="A screenshot of a football game&#10;&#10;AI-generated content may be incorrect.">
            <a:extLst>
              <a:ext uri="{FF2B5EF4-FFF2-40B4-BE49-F238E27FC236}">
                <a16:creationId xmlns:a16="http://schemas.microsoft.com/office/drawing/2014/main" id="{F3A29FB9-3823-6639-3A03-DA41BC34B6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74844" y="689429"/>
            <a:ext cx="966291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689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1C13BA-7A8B-AB56-B842-6B63ACF86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9BD4EC8-FDE1-B9A6-739F-8689E4931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screenshot of a football game&#10;&#10;AI-generated content may be incorrect.">
            <a:extLst>
              <a:ext uri="{FF2B5EF4-FFF2-40B4-BE49-F238E27FC236}">
                <a16:creationId xmlns:a16="http://schemas.microsoft.com/office/drawing/2014/main" id="{9841056E-70C2-108E-AA45-E35C88B0B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895679" y="689429"/>
            <a:ext cx="9734550" cy="5486400"/>
          </a:xfrm>
          <a:prstGeom prst="rect">
            <a:avLst/>
          </a:prstGeom>
        </p:spPr>
      </p:pic>
      <p:pic>
        <p:nvPicPr>
          <p:cNvPr id="6" name="Picture 5" descr="A screenshot of a football game&#10;&#10;AI-generated content may be incorrect.">
            <a:extLst>
              <a:ext uri="{FF2B5EF4-FFF2-40B4-BE49-F238E27FC236}">
                <a16:creationId xmlns:a16="http://schemas.microsoft.com/office/drawing/2014/main" id="{F1B13F15-6F4D-FAEA-0340-91FAA3E14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69" y="0"/>
            <a:ext cx="120795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588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878912-0763-5250-AA34-3FFC9590E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7FED9D8-56F6-15BC-5497-BD388A3E8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94EA68-8B49-E45C-C535-0CB604337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0"/>
            <a:ext cx="12172950" cy="6858000"/>
          </a:xfrm>
          <a:prstGeom prst="rect">
            <a:avLst/>
          </a:prstGeom>
        </p:spPr>
      </p:pic>
      <p:pic>
        <p:nvPicPr>
          <p:cNvPr id="4" name="Picture 3" descr="A screenshot of a football match&#10;&#10;AI-generated content may be incorrect.">
            <a:extLst>
              <a:ext uri="{FF2B5EF4-FFF2-40B4-BE49-F238E27FC236}">
                <a16:creationId xmlns:a16="http://schemas.microsoft.com/office/drawing/2014/main" id="{96D8DA13-AAB9-A337-1AE3-B7B04D51C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9642" y="689429"/>
            <a:ext cx="9715345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484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8F664C-B4F9-2858-D985-5DA6BC2EC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B51A5D1-3132-2508-E859-E2A82C0C0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3CD625-DC8A-0D31-4620-84BEBD643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954532" y="682172"/>
            <a:ext cx="9734550" cy="5486400"/>
          </a:xfrm>
          <a:prstGeom prst="rect">
            <a:avLst/>
          </a:prstGeom>
        </p:spPr>
      </p:pic>
      <p:pic>
        <p:nvPicPr>
          <p:cNvPr id="4" name="Picture 3" descr="A screenshot of a football match&#10;&#10;AI-generated content may be incorrect.">
            <a:extLst>
              <a:ext uri="{FF2B5EF4-FFF2-40B4-BE49-F238E27FC236}">
                <a16:creationId xmlns:a16="http://schemas.microsoft.com/office/drawing/2014/main" id="{7DD9A7A5-7BCC-4C81-53BB-673C04A5D1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85" y="0"/>
            <a:ext cx="12139230" cy="6858000"/>
          </a:xfrm>
          <a:prstGeom prst="rect">
            <a:avLst/>
          </a:prstGeom>
        </p:spPr>
      </p:pic>
      <p:pic>
        <p:nvPicPr>
          <p:cNvPr id="5" name="Picture 4" descr="A screenshot of a football match&#10;&#10;AI-generated content may be incorrect.">
            <a:extLst>
              <a:ext uri="{FF2B5EF4-FFF2-40B4-BE49-F238E27FC236}">
                <a16:creationId xmlns:a16="http://schemas.microsoft.com/office/drawing/2014/main" id="{532F210B-BDC1-0B5C-A1B4-314265994C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83295" y="682171"/>
            <a:ext cx="970804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127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5A9E49-598F-841C-9463-6595A94A4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3E000EF-74A1-DC2E-CD3A-03885FF60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screenshot of a football match&#10;&#10;AI-generated content may be incorrect.">
            <a:extLst>
              <a:ext uri="{FF2B5EF4-FFF2-40B4-BE49-F238E27FC236}">
                <a16:creationId xmlns:a16="http://schemas.microsoft.com/office/drawing/2014/main" id="{7535B24D-FB89-5182-C7AE-EFD1E7F10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857844" y="689429"/>
            <a:ext cx="9715345" cy="5486400"/>
          </a:xfrm>
          <a:prstGeom prst="rect">
            <a:avLst/>
          </a:prstGeom>
        </p:spPr>
      </p:pic>
      <p:pic>
        <p:nvPicPr>
          <p:cNvPr id="5" name="Picture 4" descr="A screenshot of a football match&#10;&#10;AI-generated content may be incorrect.">
            <a:extLst>
              <a:ext uri="{FF2B5EF4-FFF2-40B4-BE49-F238E27FC236}">
                <a16:creationId xmlns:a16="http://schemas.microsoft.com/office/drawing/2014/main" id="{D0E691B9-BEF1-1B5E-1DD6-D46840A38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7" y="0"/>
            <a:ext cx="12131925" cy="6858000"/>
          </a:xfrm>
          <a:prstGeom prst="rect">
            <a:avLst/>
          </a:prstGeom>
        </p:spPr>
      </p:pic>
      <p:pic>
        <p:nvPicPr>
          <p:cNvPr id="6" name="Picture 5" descr="A screenshot of a football match&#10;&#10;AI-generated content may be incorrect.">
            <a:extLst>
              <a:ext uri="{FF2B5EF4-FFF2-40B4-BE49-F238E27FC236}">
                <a16:creationId xmlns:a16="http://schemas.microsoft.com/office/drawing/2014/main" id="{8B7C961A-F6AB-9B5B-9AAA-708D27BC1D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71879" y="689429"/>
            <a:ext cx="9713157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666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E19D90-9C4E-1760-31D7-4F54C8E2E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BC42D60-2396-4B1D-4059-4E05EEF63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screenshot of a football match&#10;&#10;AI-generated content may be incorrect.">
            <a:extLst>
              <a:ext uri="{FF2B5EF4-FFF2-40B4-BE49-F238E27FC236}">
                <a16:creationId xmlns:a16="http://schemas.microsoft.com/office/drawing/2014/main" id="{B54F60E4-AA39-D568-2C8E-BD2057DC9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999335" y="689429"/>
            <a:ext cx="9708040" cy="5486400"/>
          </a:xfrm>
          <a:prstGeom prst="rect">
            <a:avLst/>
          </a:prstGeom>
        </p:spPr>
      </p:pic>
      <p:pic>
        <p:nvPicPr>
          <p:cNvPr id="6" name="Picture 5" descr="A screenshot of a football match&#10;&#10;AI-generated content may be incorrect.">
            <a:extLst>
              <a:ext uri="{FF2B5EF4-FFF2-40B4-BE49-F238E27FC236}">
                <a16:creationId xmlns:a16="http://schemas.microsoft.com/office/drawing/2014/main" id="{03777D3E-294B-4F75-32E9-146FF7C11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79" y="0"/>
            <a:ext cx="12137042" cy="6858000"/>
          </a:xfrm>
          <a:prstGeom prst="rect">
            <a:avLst/>
          </a:prstGeom>
        </p:spPr>
      </p:pic>
      <p:pic>
        <p:nvPicPr>
          <p:cNvPr id="3" name="Picture 2" descr="A screenshot of a football match&#10;&#10;AI-generated content may be incorrect.">
            <a:extLst>
              <a:ext uri="{FF2B5EF4-FFF2-40B4-BE49-F238E27FC236}">
                <a16:creationId xmlns:a16="http://schemas.microsoft.com/office/drawing/2014/main" id="{2C3ED3B3-4E6C-883A-A102-F907498EEE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8670" y="689429"/>
            <a:ext cx="9715345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466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6F7CF-885B-2928-C21A-43EB574C0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9FCA312-1979-7C0C-9EC1-897283A31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A screenshot of a football match&#10;&#10;AI-generated content may be incorrect.">
            <a:extLst>
              <a:ext uri="{FF2B5EF4-FFF2-40B4-BE49-F238E27FC236}">
                <a16:creationId xmlns:a16="http://schemas.microsoft.com/office/drawing/2014/main" id="{0679256D-5D40-5370-6DD7-FF099D169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936578" y="689429"/>
            <a:ext cx="9713157" cy="5486400"/>
          </a:xfrm>
          <a:prstGeom prst="rect">
            <a:avLst/>
          </a:prstGeom>
        </p:spPr>
      </p:pic>
      <p:pic>
        <p:nvPicPr>
          <p:cNvPr id="3" name="Picture 2" descr="A screenshot of a football match&#10;&#10;AI-generated content may be incorrect.">
            <a:extLst>
              <a:ext uri="{FF2B5EF4-FFF2-40B4-BE49-F238E27FC236}">
                <a16:creationId xmlns:a16="http://schemas.microsoft.com/office/drawing/2014/main" id="{8B7CACD2-6262-1AC5-5B08-6EEE197107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85" y="0"/>
            <a:ext cx="121392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012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5376EB-583B-709A-4A8D-99F2E9EF9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60E1BF2-5023-76C2-FEFD-CB701FF9B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EEB75F-EA6E-BD1B-1936-603D303DC574}"/>
              </a:ext>
            </a:extLst>
          </p:cNvPr>
          <p:cNvSpPr txBox="1"/>
          <p:nvPr/>
        </p:nvSpPr>
        <p:spPr>
          <a:xfrm>
            <a:off x="4351382" y="1986111"/>
            <a:ext cx="5782491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8000" dirty="0">
                <a:latin typeface="Andalus"/>
                <a:cs typeface="Andalus"/>
              </a:rPr>
              <a:t>Thank You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2DF2A5-5404-A39F-F941-5EDD6C8AF61C}"/>
              </a:ext>
            </a:extLst>
          </p:cNvPr>
          <p:cNvSpPr txBox="1"/>
          <p:nvPr/>
        </p:nvSpPr>
        <p:spPr>
          <a:xfrm>
            <a:off x="4537108" y="3307252"/>
            <a:ext cx="6404470" cy="2893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ea typeface="Calibri"/>
                <a:cs typeface="Calibri"/>
              </a:rPr>
              <a:t>Prepared </a:t>
            </a:r>
            <a:r>
              <a:rPr lang="en-US" sz="1400" b="1">
                <a:ea typeface="Calibri"/>
                <a:cs typeface="Calibri"/>
              </a:rPr>
              <a:t>by</a:t>
            </a:r>
            <a:r>
              <a:rPr lang="en-US" sz="1400" b="1" dirty="0">
                <a:ea typeface="Calibri"/>
                <a:cs typeface="Calibri"/>
              </a:rPr>
              <a:t>:</a:t>
            </a:r>
          </a:p>
          <a:p>
            <a:pPr marL="285750" indent="-285750">
              <a:buFont typeface="Calibri"/>
              <a:buChar char="-"/>
            </a:pPr>
            <a:r>
              <a:rPr lang="en-US" sz="1400">
                <a:ea typeface="Calibri"/>
                <a:cs typeface="Calibri"/>
              </a:rPr>
              <a:t>Mohammed Atef:</a:t>
            </a:r>
            <a:endParaRPr lang="en-US" sz="1400" dirty="0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400">
                <a:ea typeface="Calibri"/>
                <a:cs typeface="Calibri"/>
              </a:rPr>
              <a:t>LinkedIn: </a:t>
            </a:r>
            <a:r>
              <a:rPr lang="en-US" sz="1400" dirty="0">
                <a:ea typeface="+mn-lt"/>
                <a:cs typeface="+mn-lt"/>
                <a:hlinkClick r:id="rId3"/>
              </a:rPr>
              <a:t>in/mohammed-atef-abd-elkader/</a:t>
            </a:r>
            <a:r>
              <a:rPr lang="en-US" sz="1400" dirty="0">
                <a:ea typeface="+mn-lt"/>
                <a:cs typeface="+mn-lt"/>
              </a:rPr>
              <a:t> 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400">
                <a:ea typeface="Calibri"/>
                <a:cs typeface="Calibri"/>
              </a:rPr>
              <a:t>GitHub: </a:t>
            </a:r>
            <a:r>
              <a:rPr lang="en-US" sz="1400" dirty="0">
                <a:ea typeface="+mn-lt"/>
                <a:cs typeface="+mn-lt"/>
                <a:hlinkClick r:id="rId4"/>
              </a:rPr>
              <a:t>github.com/Mohammed-3tef</a:t>
            </a:r>
            <a:r>
              <a:rPr lang="en-US" sz="1400" dirty="0">
                <a:ea typeface="+mn-lt"/>
                <a:cs typeface="+mn-lt"/>
              </a:rPr>
              <a:t> </a:t>
            </a:r>
          </a:p>
          <a:p>
            <a:pPr marL="285750" indent="-285750">
              <a:buFont typeface="Calibri,Sans-Serif"/>
              <a:buChar char="-"/>
            </a:pPr>
            <a:r>
              <a:rPr lang="en-US" sz="1400">
                <a:ea typeface="Calibri"/>
                <a:cs typeface="Calibri"/>
              </a:rPr>
              <a:t>Mohammed Ahmed:</a:t>
            </a:r>
            <a:endParaRPr lang="en-US" sz="1400" dirty="0">
              <a:ea typeface="Calibri"/>
              <a:cs typeface="Calibri"/>
            </a:endParaRPr>
          </a:p>
          <a:p>
            <a:pPr marL="742950" lvl="1" indent="-285750">
              <a:buFont typeface="Courier New,monospace"/>
              <a:buChar char="o"/>
            </a:pPr>
            <a:r>
              <a:rPr lang="en-US" sz="1400">
                <a:ea typeface="Calibri"/>
                <a:cs typeface="Calibri"/>
              </a:rPr>
              <a:t>LinkedIn: </a:t>
            </a:r>
            <a:r>
              <a:rPr lang="en-US" sz="1400" dirty="0">
                <a:ea typeface="+mn-lt"/>
                <a:cs typeface="+mn-lt"/>
                <a:hlinkClick r:id="rId5"/>
              </a:rPr>
              <a:t>in/mohamed-ahmed-ba0815307/</a:t>
            </a:r>
            <a:r>
              <a:rPr lang="en-US" sz="1400" dirty="0">
                <a:ea typeface="+mn-lt"/>
                <a:cs typeface="+mn-lt"/>
              </a:rPr>
              <a:t> 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1400">
                <a:ea typeface="Calibri"/>
                <a:cs typeface="Calibri"/>
              </a:rPr>
              <a:t>GitHub: </a:t>
            </a:r>
            <a:r>
              <a:rPr lang="en-US" sz="1400" dirty="0">
                <a:ea typeface="+mn-lt"/>
                <a:cs typeface="+mn-lt"/>
                <a:hlinkClick r:id="rId6"/>
              </a:rPr>
              <a:t>github.com/mohamedahmed2005</a:t>
            </a:r>
            <a:r>
              <a:rPr lang="en-US" sz="1400" dirty="0">
                <a:ea typeface="+mn-lt"/>
                <a:cs typeface="+mn-lt"/>
              </a:rPr>
              <a:t> </a:t>
            </a:r>
            <a:endParaRPr lang="en-US" sz="1400" dirty="0">
              <a:ea typeface="Calibri"/>
              <a:cs typeface="Calibri"/>
            </a:endParaRPr>
          </a:p>
          <a:p>
            <a:pPr marL="285750" indent="-285750">
              <a:buFont typeface="Calibri,Sans-Serif"/>
              <a:buChar char="-"/>
            </a:pPr>
            <a:r>
              <a:rPr lang="en-US" sz="1400">
                <a:ea typeface="Calibri"/>
                <a:cs typeface="Calibri"/>
              </a:rPr>
              <a:t>Mostafa </a:t>
            </a:r>
            <a:r>
              <a:rPr lang="en-US" sz="1400">
                <a:ea typeface="+mn-lt"/>
                <a:cs typeface="+mn-lt"/>
              </a:rPr>
              <a:t>Ehab</a:t>
            </a:r>
            <a:r>
              <a:rPr lang="en-US" sz="1400">
                <a:ea typeface="Calibri"/>
                <a:cs typeface="Calibri"/>
              </a:rPr>
              <a:t>:</a:t>
            </a:r>
            <a:endParaRPr lang="en-US" sz="1400" dirty="0">
              <a:ea typeface="Calibri"/>
              <a:cs typeface="Calibri"/>
            </a:endParaRPr>
          </a:p>
          <a:p>
            <a:pPr marL="742950" lvl="1" indent="-285750">
              <a:buFont typeface="Courier New,monospace"/>
              <a:buChar char="o"/>
            </a:pPr>
            <a:r>
              <a:rPr lang="en-US" sz="1400">
                <a:ea typeface="Calibri"/>
                <a:cs typeface="Calibri"/>
              </a:rPr>
              <a:t>LinkedIn: </a:t>
            </a:r>
            <a:r>
              <a:rPr lang="en-US" sz="1400" dirty="0">
                <a:ea typeface="+mn-lt"/>
                <a:cs typeface="+mn-lt"/>
                <a:hlinkClick r:id="rId7"/>
              </a:rPr>
              <a:t>in/mustafa-ehab-aql/</a:t>
            </a:r>
            <a:r>
              <a:rPr lang="en-US" sz="1400" dirty="0">
                <a:ea typeface="+mn-lt"/>
                <a:cs typeface="+mn-lt"/>
              </a:rPr>
              <a:t> 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1400">
                <a:ea typeface="Calibri"/>
                <a:cs typeface="Calibri"/>
              </a:rPr>
              <a:t>GitHub</a:t>
            </a:r>
            <a:r>
              <a:rPr lang="en-US" sz="1400" dirty="0">
                <a:ea typeface="Calibri"/>
                <a:cs typeface="Calibri"/>
              </a:rPr>
              <a:t>: </a:t>
            </a:r>
            <a:r>
              <a:rPr lang="en-US" sz="1400" dirty="0">
                <a:ea typeface="+mn-lt"/>
                <a:cs typeface="+mn-lt"/>
                <a:hlinkClick r:id="rId8"/>
              </a:rPr>
              <a:t>github.com/Eng-M0stafaEhab</a:t>
            </a:r>
            <a:r>
              <a:rPr lang="en-US" sz="1400" dirty="0">
                <a:ea typeface="+mn-lt"/>
                <a:cs typeface="+mn-lt"/>
              </a:rPr>
              <a:t> </a:t>
            </a:r>
            <a:endParaRPr lang="en-US" sz="1400" dirty="0">
              <a:ea typeface="Calibri"/>
              <a:cs typeface="Calibri"/>
            </a:endParaRPr>
          </a:p>
          <a:p>
            <a:pPr marL="285750" indent="-285750">
              <a:buFont typeface="Calibri,Sans-Serif"/>
              <a:buChar char="-"/>
            </a:pPr>
            <a:r>
              <a:rPr lang="en-US" sz="1400">
                <a:ea typeface="+mn-lt"/>
                <a:cs typeface="+mn-lt"/>
              </a:rPr>
              <a:t>Mostafa Mahmoud</a:t>
            </a:r>
            <a:r>
              <a:rPr lang="en-US" sz="1400">
                <a:ea typeface="Calibri"/>
                <a:cs typeface="Calibri"/>
              </a:rPr>
              <a:t>:</a:t>
            </a:r>
            <a:endParaRPr lang="en-US" sz="1400" dirty="0">
              <a:ea typeface="Calibri"/>
              <a:cs typeface="Calibri"/>
            </a:endParaRPr>
          </a:p>
          <a:p>
            <a:pPr marL="742950" lvl="1" indent="-285750">
              <a:buFont typeface="Courier New,monospace"/>
              <a:buChar char="o"/>
            </a:pPr>
            <a:r>
              <a:rPr lang="en-US" sz="1400">
                <a:ea typeface="Calibri"/>
                <a:cs typeface="Calibri"/>
              </a:rPr>
              <a:t>LinkedIn: </a:t>
            </a:r>
            <a:r>
              <a:rPr lang="en-US" sz="1400" dirty="0">
                <a:ea typeface="+mn-lt"/>
                <a:cs typeface="+mn-lt"/>
                <a:hlinkClick r:id="rId9"/>
              </a:rPr>
              <a:t>in/mostafa-mahmoud-51b101324/</a:t>
            </a:r>
            <a:r>
              <a:rPr lang="en-US" sz="1400" dirty="0">
                <a:ea typeface="+mn-lt"/>
                <a:cs typeface="+mn-lt"/>
              </a:rPr>
              <a:t> 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1400">
                <a:ea typeface="Calibri"/>
                <a:cs typeface="Calibri"/>
              </a:rPr>
              <a:t>GitHub: </a:t>
            </a:r>
            <a:r>
              <a:rPr lang="en-US" sz="1400" dirty="0">
                <a:ea typeface="+mn-lt"/>
                <a:cs typeface="+mn-lt"/>
                <a:hlinkClick r:id="rId10"/>
              </a:rPr>
              <a:t>github.com/mostafa-mahmoud-fathy</a:t>
            </a:r>
            <a:r>
              <a:rPr lang="en-US" sz="1400" dirty="0">
                <a:ea typeface="+mn-lt"/>
                <a:cs typeface="+mn-lt"/>
              </a:rPr>
              <a:t> </a:t>
            </a:r>
            <a:endParaRPr lang="en-US" sz="1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4006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50</Words>
  <Application>Microsoft Office PowerPoint</Application>
  <PresentationFormat>Widescreen</PresentationFormat>
  <Paragraphs>19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محمد احمد محمد عبدالوهاب</cp:lastModifiedBy>
  <cp:revision>508</cp:revision>
  <dcterms:created xsi:type="dcterms:W3CDTF">2013-01-27T09:14:16Z</dcterms:created>
  <dcterms:modified xsi:type="dcterms:W3CDTF">2026-06-21T23:53:10Z</dcterms:modified>
  <cp:category/>
</cp:coreProperties>
</file>